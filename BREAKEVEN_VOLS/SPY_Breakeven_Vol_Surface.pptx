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3172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1B2A56"/>
                </a:solidFill>
                <a:latin typeface="Calibri"/>
              </a:rPr>
              <a:t>The SPY Breakeven Volatility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B2A56"/>
                </a:solidFill>
                <a:latin typeface="Calibri"/>
              </a:rPr>
              <a:t>From a Single Delta-Hedged Path to a Market-Comparable Vol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6052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242424"/>
                </a:solidFill>
                <a:latin typeface="Calibri"/>
              </a:rPr>
              <a:t>Block-Bootstrap Breakeven Volatility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26280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757575"/>
                </a:solidFill>
                <a:latin typeface="Calibri"/>
              </a:rPr>
              <a:t>Underlying: SPY  |  Methodology: Block-Bootstrap Delta-Hedge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1 / 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Agenda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69264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499616"/>
            <a:ext cx="105457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1B2A56"/>
                </a:solidFill>
                <a:latin typeface="Calibri"/>
              </a:rPr>
              <a:t>1.  Single-Path Breakeven Volatility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12848"/>
            <a:ext cx="105457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1B2A56"/>
                </a:solidFill>
                <a:latin typeface="Calibri"/>
              </a:rPr>
              <a:t>2.  Block Bootstrap: From One Path to a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457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1B2A56"/>
                </a:solidFill>
                <a:latin typeface="Calibri"/>
              </a:rPr>
              <a:t>3.  The Breakeven Volatility Smile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39312"/>
            <a:ext cx="105457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1B2A56"/>
                </a:solidFill>
                <a:latin typeface="Calibri"/>
              </a:rPr>
              <a:t>4.  Expanding to a Full Volatility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52544"/>
            <a:ext cx="105457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1B2A56"/>
                </a:solidFill>
                <a:latin typeface="Calibri"/>
              </a:rPr>
              <a:t>5.  Market Implied Vols &amp; the Variance Risk Premium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2 / 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5A6B9C"/>
                </a:solidFill>
                <a:latin typeface="Calibri"/>
              </a:rPr>
              <a:t>1 · SINGLE-PATH BREAKEVEN VOLATILITY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The Core Idea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16736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572768"/>
            <a:ext cx="1109441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52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 Delta-hedge a long option daily using Black-Scholes greeks computed at a chosen hedging volatility σ</a:t>
            </a:r>
          </a:p>
          <a:p>
            <a:pPr>
              <a:spcAft>
                <a:spcPts val="1152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 Walk the option forward along one realized price path, rebalancing the hedge every day</a:t>
            </a:r>
          </a:p>
          <a:p>
            <a:pPr>
              <a:spcAft>
                <a:spcPts val="1152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 Sum the day-by-day hedge P&amp;L over the option's life</a:t>
            </a:r>
          </a:p>
          <a:p>
            <a:pPr>
              <a:spcAft>
                <a:spcPts val="1152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 Breakeven volatility σᵇᴱ is the σ that makes that total P&amp;L exactly zero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93008"/>
            <a:ext cx="11094415" cy="329184"/>
          </a:xfrm>
          <a:prstGeom prst="roundRect">
            <a:avLst>
              <a:gd name="adj" fmla="val 15000"/>
            </a:avLst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Black-Scholes Greeks (used to price &amp; hedge each day)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803904"/>
            <a:ext cx="11094415" cy="777240"/>
          </a:xfrm>
          <a:prstGeom prst="rect">
            <a:avLst/>
          </a:prstGeom>
          <a:solidFill>
            <a:srgbClr val="E8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 i="0">
                <a:solidFill>
                  <a:srgbClr val="242424"/>
                </a:solidFill>
                <a:latin typeface="Calibri"/>
              </a:rPr>
              <a:t>d₁ = [ln(S/K) + (r + σ²/2)T] / (σ√T)          d₂ = d₁ − σ√T</a:t>
            </a:r>
          </a:p>
          <a:p>
            <a:pPr algn="l"/>
            <a:r>
              <a:rPr sz="1400" b="0" i="0">
                <a:solidFill>
                  <a:srgbClr val="242424"/>
                </a:solidFill>
                <a:latin typeface="Calibri"/>
              </a:rPr>
              <a:t>Call price:  C = S·N(d₁) − K·e⁻ʳᵀ·N(d₂)          Delta:  Δ = N(d₁)          Gamma:  Γ = φ(d₁) / (Sσ√T)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64024"/>
            <a:ext cx="11094415" cy="329184"/>
          </a:xfrm>
          <a:prstGeom prst="roundRect">
            <a:avLst>
              <a:gd name="adj" fmla="val 15000"/>
            </a:avLst>
          </a:prstGeom>
          <a:solidFill>
            <a:srgbClr val="3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Breakeven Condition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074920"/>
            <a:ext cx="11094415" cy="502920"/>
          </a:xfrm>
          <a:prstGeom prst="rect">
            <a:avLst/>
          </a:prstGeom>
          <a:solidFill>
            <a:srgbClr val="E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 i="0">
                <a:solidFill>
                  <a:srgbClr val="242424"/>
                </a:solidFill>
                <a:latin typeface="Calibri"/>
              </a:rPr>
              <a:t>Total P&amp;L(σ) = Σₜ [ C(Sₜ₊₁) − C(Sₜ) − Δₜ·(Sₜ₊₁ − Sₜ) ]        →        solve  Total P&amp;L(σᵇᴱ)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3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One Simulated Price Path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69264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25296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64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 A single 1-year GBM path for a 100% moneyness (ATM) SPY call, strike marked</a:t>
            </a:r>
          </a:p>
          <a:p>
            <a:pPr>
              <a:spcAft>
                <a:spcPts val="864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 This is the “realized path” we will delta-hedge against</a:t>
            </a:r>
          </a:p>
        </p:txBody>
      </p:sp>
      <p:pic>
        <p:nvPicPr>
          <p:cNvPr id="5" name="Picture 4" descr="01_price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7" y="2093976"/>
            <a:ext cx="777240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4 /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Delta Hedging the Path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69264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8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 Every day: recompute delta/gamma/theta at that day's spot &amp; remaining time, rebalance the hedge</a:t>
            </a:r>
          </a:p>
        </p:txBody>
      </p:sp>
      <p:pic>
        <p:nvPicPr>
          <p:cNvPr id="5" name="Picture 4" descr="03_greeks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23" y="1728216"/>
            <a:ext cx="493776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702552"/>
            <a:ext cx="53643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Calibri"/>
              </a:rPr>
              <a:t>Greeks over time</a:t>
            </a:r>
          </a:p>
        </p:txBody>
      </p:sp>
      <p:pic>
        <p:nvPicPr>
          <p:cNvPr id="7" name="Picture 6" descr="02_delta_hedge_pn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2051364"/>
            <a:ext cx="5364327" cy="42914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78727" y="6702552"/>
            <a:ext cx="53643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Calibri"/>
              </a:rPr>
              <a:t>Delta position &amp; cumulative hedge P&amp;L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5 /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Solving for the Breakeven Vol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69264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8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 Root-find σ so that total hedge P&amp;L over this path is zero, via Brent's method</a:t>
            </a:r>
          </a:p>
        </p:txBody>
      </p:sp>
      <p:pic>
        <p:nvPicPr>
          <p:cNvPr id="5" name="Picture 4" descr="04_breakeven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047" y="1682496"/>
            <a:ext cx="5943600" cy="3566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385816"/>
            <a:ext cx="11094415" cy="329184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Alertblock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696712"/>
            <a:ext cx="11094415" cy="384048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 i="0">
                <a:solidFill>
                  <a:srgbClr val="242424"/>
                </a:solidFill>
                <a:latin typeface="Calibri"/>
              </a:rPr>
              <a:t>One path is one draw from a random process — its breakeven vol is a single noisy estimate. We need many paths to get a stable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6 /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5A6B9C"/>
                </a:solidFill>
                <a:latin typeface="Calibri"/>
              </a:rPr>
              <a:t>2 · BLOCK BOOTSTRAP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Why One Path Isn't Enough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16736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572768"/>
            <a:ext cx="1109441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84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A single simulated path is one random draw — its breakeven vol carries sampling noise</a:t>
            </a:r>
          </a:p>
          <a:p>
            <a:pPr>
              <a:spcAft>
                <a:spcPts val="1584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We want the estimate to reflect real SPY return dynamics: fat tails, volatility clustering, the leverage effect</a:t>
            </a:r>
          </a:p>
          <a:p>
            <a:pPr>
              <a:spcAft>
                <a:spcPts val="1584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Two options: Monte Carlo many GBM paths, or resample real historical returns</a:t>
            </a:r>
          </a:p>
          <a:p>
            <a:pPr>
              <a:spcAft>
                <a:spcPts val="1584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We chose block bootstrap of real SPY history — it preserves the actual texture of the market rather than an idealized lognormal assumption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178808"/>
            <a:ext cx="11094415" cy="329184"/>
          </a:xfrm>
          <a:prstGeom prst="roundRect">
            <a:avLst>
              <a:gd name="adj" fmla="val 15000"/>
            </a:avLst>
          </a:prstGeom>
          <a:solidFill>
            <a:srgbClr val="3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Examples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489704"/>
            <a:ext cx="11094415" cy="502920"/>
          </a:xfrm>
          <a:prstGeom prst="rect">
            <a:avLst/>
          </a:prstGeom>
          <a:solidFill>
            <a:srgbClr val="E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 i="0">
                <a:solidFill>
                  <a:srgbClr val="242424"/>
                </a:solidFill>
                <a:latin typeface="Calibri"/>
              </a:rPr>
              <a:t>Plain (IID) resampling of individual days would destroy that texture — day-to-day autocorrelation and volatility clustering are exactly the signal we want to keep.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7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Block Bootstrap Methodology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69264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25296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52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 Stitch together randomly drawn, contiguous 21-trading-day blocks (≈ 1 month) of real historical SPY log returns</a:t>
            </a:r>
          </a:p>
          <a:p>
            <a:pPr>
              <a:spcAft>
                <a:spcPts val="1152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 Blocks are drawn from ≈ 10 years of daily SPY price history</a:t>
            </a:r>
          </a:p>
          <a:p>
            <a:pPr>
              <a:spcAft>
                <a:spcPts val="1152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 Preserves each block's internal autocorrelation &amp; vol clustering, while mixing different historical regimes across blocks</a:t>
            </a:r>
          </a:p>
        </p:txBody>
      </p:sp>
      <p:pic>
        <p:nvPicPr>
          <p:cNvPr id="5" name="Picture 4" descr="01_block_bootstrap_sh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007" y="2642616"/>
            <a:ext cx="658368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71032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Calibri"/>
              </a:rPr>
              <a:t>Shaded, numbered windows = the blocks stitched into one sampled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8 /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Distribution of Breakeven Vols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69264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25296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8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 Repeat the single-path procedure across thousands of bootstrapped paths for the same option</a:t>
            </a:r>
          </a:p>
          <a:p>
            <a:pPr>
              <a:spcAft>
                <a:spcPts val="1008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 Each path gives its own breakeven vol → a full distribution, not a single number</a:t>
            </a:r>
          </a:p>
        </p:txBody>
      </p:sp>
      <p:pic>
        <p:nvPicPr>
          <p:cNvPr id="5" name="Picture 4" descr="03_breakeven_vo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7" y="2048256"/>
            <a:ext cx="5486400" cy="3291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477256"/>
            <a:ext cx="11094415" cy="329184"/>
          </a:xfrm>
          <a:prstGeom prst="roundRect">
            <a:avLst>
              <a:gd name="adj" fmla="val 15000"/>
            </a:avLst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Block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788152"/>
            <a:ext cx="11094415" cy="384048"/>
          </a:xfrm>
          <a:prstGeom prst="rect">
            <a:avLst/>
          </a:prstGeom>
          <a:solidFill>
            <a:srgbClr val="E8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 i="0">
                <a:solidFill>
                  <a:srgbClr val="242424"/>
                </a:solidFill>
                <a:latin typeface="Calibri"/>
              </a:rPr>
              <a:t>The mean of this distribution is what we report as “the” breakeven volatility for the option.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9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5A6B9C"/>
                </a:solidFill>
                <a:latin typeface="Calibri"/>
              </a:rPr>
              <a:t>3 · THE BREAKEVEN VOLATILITY SMILE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From One Option to Four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16736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57276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8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 Expand from the single ATM call to four options: 80% put, 90% put, 100% call, 110% call</a:t>
            </a:r>
          </a:p>
          <a:p>
            <a:pPr>
              <a:spcAft>
                <a:spcPts val="1008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 All four are evaluated against the exact same bootstrapped path ensemble — apples-to-apples</a:t>
            </a:r>
          </a:p>
        </p:txBody>
      </p:sp>
      <p:pic>
        <p:nvPicPr>
          <p:cNvPr id="6" name="Picture 5" descr="02_bootstrap_price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147" y="2487168"/>
            <a:ext cx="5867400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044184"/>
            <a:ext cx="92656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Calibri"/>
              </a:rPr>
              <a:t>All bootstrapped paths for the 1-year option, with the 4 strikes marked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10 / 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The Breakeven Volatility Smile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69264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25296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8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 For each option, root-find breakeven vol on every bootstrapped path — box = full distribution, black line = median, red diamond = mean</a:t>
            </a:r>
          </a:p>
        </p:txBody>
      </p:sp>
      <p:pic>
        <p:nvPicPr>
          <p:cNvPr id="5" name="Picture 4" descr="04_breakeven_vol_sm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309" y="1728216"/>
            <a:ext cx="5627076" cy="3657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522976"/>
            <a:ext cx="11094415" cy="329184"/>
          </a:xfrm>
          <a:prstGeom prst="roundRect">
            <a:avLst>
              <a:gd name="adj" fmla="val 15000"/>
            </a:avLst>
          </a:prstGeom>
          <a:solidFill>
            <a:srgbClr val="3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Examples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833872"/>
            <a:ext cx="11094415" cy="566928"/>
          </a:xfrm>
          <a:prstGeom prst="rect">
            <a:avLst/>
          </a:prstGeom>
          <a:solidFill>
            <a:srgbClr val="E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 i="0">
                <a:solidFill>
                  <a:srgbClr val="242424"/>
                </a:solidFill>
                <a:latin typeface="Calibri"/>
              </a:rPr>
              <a:t>Slight downward skew, highest at the 80% put (median 16.4%) to lowest at the 110% call (median 15.7%) -- the leverage effect: equity selloffs historically coincide with higher realized vol, so paths drifting toward the 80% strike are more likely to reflect a higher-vol historical regime than ones drifting toward 110%.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11 /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Interpreting the Smile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69264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25296"/>
            <a:ext cx="1109441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4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Breakeven vol is highest for the 80% put (median 16.4%) and declines steadily to the 110% call (median 15.7%)</a:t>
            </a:r>
          </a:p>
          <a:p>
            <a:pPr>
              <a:spcAft>
                <a:spcPts val="144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This is the leverage effect: equity selloffs coincide with higher realized volatility (vol clustering, fat left tail)</a:t>
            </a:r>
          </a:p>
          <a:p>
            <a:pPr>
              <a:spcAft>
                <a:spcPts val="144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A path that drifts down toward the 80% strike is more likely to have passed through a higher-vol historical regime than one drifting up toward 110%</a:t>
            </a:r>
          </a:p>
          <a:p>
            <a:pPr>
              <a:spcAft>
                <a:spcPts val="144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So the 80% put's gamma exposure ends up realized-vol-weighted higher than the 110% call's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059936"/>
            <a:ext cx="11094415" cy="329184"/>
          </a:xfrm>
          <a:prstGeom prst="roundRect">
            <a:avLst>
              <a:gd name="adj" fmla="val 15000"/>
            </a:avLst>
          </a:prstGeom>
          <a:solidFill>
            <a:srgbClr val="3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Examples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370832"/>
            <a:ext cx="11094415" cy="384048"/>
          </a:xfrm>
          <a:prstGeom prst="rect">
            <a:avLst/>
          </a:prstGeom>
          <a:solidFill>
            <a:srgbClr val="E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 i="0">
                <a:solidFill>
                  <a:srgbClr val="242424"/>
                </a:solidFill>
                <a:latin typeface="Calibri"/>
              </a:rPr>
              <a:t>80% Put: 16.43%      90% Put: 16.11%      100% Call: 15.94%      110% Call: 15.67%  (all medians)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12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5A6B9C"/>
                </a:solidFill>
                <a:latin typeface="Calibri"/>
              </a:rPr>
              <a:t>4 · EXPANDING TO A FULL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Scaling Up the Grid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16736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572768"/>
            <a:ext cx="1109441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84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Moneyness: 80% to 115% in 5% steps — puts below 100%, calls at/above (8 levels)</a:t>
            </a:r>
          </a:p>
          <a:p>
            <a:pPr>
              <a:spcAft>
                <a:spcPts val="1584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Expiries: 1M, 2M, 3M, 6M, 1Y, 2Y, 3Y (7 tenors)</a:t>
            </a:r>
          </a:p>
          <a:p>
            <a:pPr>
              <a:spcAft>
                <a:spcPts val="1584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8 × 7 = 56 (expiry, moneyness) cells, each solved the same way: its own bootstrapped path ensemble, its own breakeven-vol distribution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538728"/>
            <a:ext cx="11094415" cy="329184"/>
          </a:xfrm>
          <a:prstGeom prst="roundRect">
            <a:avLst>
              <a:gd name="adj" fmla="val 15000"/>
            </a:avLst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Block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849624"/>
            <a:ext cx="11094415" cy="384048"/>
          </a:xfrm>
          <a:prstGeom prst="rect">
            <a:avLst/>
          </a:prstGeom>
          <a:solidFill>
            <a:srgbClr val="E8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 i="0">
                <a:solidFill>
                  <a:srgbClr val="242424"/>
                </a:solidFill>
                <a:latin typeface="Calibri"/>
              </a:rPr>
              <a:t>Same methodology throughout — only the grid got bigger, not the underlying logic.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13 /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The Breakeven Volatility Surface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69264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25296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8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 Red markers = the four original moneyness levels your manager asked for, at the 1Y expiry</a:t>
            </a:r>
          </a:p>
        </p:txBody>
      </p:sp>
      <p:pic>
        <p:nvPicPr>
          <p:cNvPr id="5" name="Picture 4" descr="08_breakeven_vol_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687" y="1728216"/>
            <a:ext cx="713232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14 /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Noise at the Short-Dated Wing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69264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25296"/>
            <a:ext cx="1109441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52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 Look closely at the surface near 80-85% moneyness at 1M-2M — it collapses sharply</a:t>
            </a:r>
          </a:p>
          <a:p>
            <a:pPr>
              <a:spcAft>
                <a:spcPts val="1152"/>
              </a:spcAft>
            </a:pPr>
            <a:r>
              <a:rPr sz="1600" b="0" i="0">
                <a:solidFill>
                  <a:srgbClr val="242424"/>
                </a:solidFill>
                <a:latin typeface="Calibri"/>
              </a:rPr>
              <a:t>•  A 20% drop in a month is astronomically unlikely at any realistic volatility, so the option is worth ~0 for every σ we test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28800" y="3282696"/>
            <a:ext cx="8534095" cy="0"/>
          </a:xfrm>
          <a:prstGeom prst="line">
            <a:avLst/>
          </a:prstGeom>
          <a:ln w="285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511527" y="3099816"/>
            <a:ext cx="0" cy="365760"/>
          </a:xfrm>
          <a:prstGeom prst="line">
            <a:avLst/>
          </a:prstGeom>
          <a:ln w="15875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62887" y="35112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Calibri"/>
              </a:rPr>
              <a:t>σ = lo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680167" y="3099816"/>
            <a:ext cx="0" cy="365760"/>
          </a:xfrm>
          <a:prstGeom prst="line">
            <a:avLst/>
          </a:prstGeom>
          <a:ln w="15875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31527" y="35112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Calibri"/>
              </a:rPr>
              <a:t>σ = 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596896"/>
            <a:ext cx="8534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1B2A56"/>
                </a:solidFill>
                <a:latin typeface="Calibri"/>
              </a:rPr>
              <a:t>Total P&amp;L(σ) ≈ 0 across the entire bracket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14216"/>
            <a:ext cx="11094415" cy="329184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Alertblock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25112"/>
            <a:ext cx="11094415" cy="45720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 i="0">
                <a:solidFill>
                  <a:srgbClr val="242424"/>
                </a:solidFill>
                <a:latin typeface="Calibri"/>
              </a:rPr>
              <a:t>Any “root” found there is floating-point noise, not signal. Our pipeline detects this (|P&amp;L| below tolerance at both ends) and reports NaN instead of a fabricated number.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15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5A6B9C"/>
                </a:solidFill>
                <a:latin typeface="Calibri"/>
              </a:rPr>
              <a:t>5 · MARKET IMPLIED VOLS &amp; THE VRP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Pulling the Market Surface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16736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572768"/>
            <a:ext cx="1109441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4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Pull SPY's live listed option chain (Alpaca) onto the exact same (expiry, moneyness) grid</a:t>
            </a:r>
          </a:p>
          <a:p>
            <a:pPr>
              <a:spcAft>
                <a:spcPts val="144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Real listed expirations are fixed calendar dates — search a window around each target date and take whichever listed expiry is actually closest</a:t>
            </a:r>
          </a:p>
          <a:p>
            <a:pPr>
              <a:spcAft>
                <a:spcPts val="144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That window widens for longer-dated targets, since LEAPS are listed far more sparsely than near-term monthlies</a:t>
            </a:r>
          </a:p>
          <a:p>
            <a:pPr>
              <a:spcAft>
                <a:spcPts val="144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For each moneyness level, take the listed strike closest to S × moneyness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178808"/>
            <a:ext cx="11094415" cy="329184"/>
          </a:xfrm>
          <a:prstGeom prst="roundRect">
            <a:avLst>
              <a:gd name="adj" fmla="val 15000"/>
            </a:avLst>
          </a:prstGeom>
          <a:solidFill>
            <a:srgbClr val="3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Examples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489704"/>
            <a:ext cx="11094415" cy="384048"/>
          </a:xfrm>
          <a:prstGeom prst="rect">
            <a:avLst/>
          </a:prstGeom>
          <a:solidFill>
            <a:srgbClr val="E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 i="0">
                <a:solidFill>
                  <a:srgbClr val="242424"/>
                </a:solidFill>
                <a:latin typeface="Calibri"/>
              </a:rPr>
              <a:t>Target: 1Y out  →  matched to actual listed expiry 2027-06-30 (nearest available)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16 /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Modeled vs Market: The Dual Surface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69264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25296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8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 Green = our modeled breakeven vol surface     Purple = live market implied vol surface</a:t>
            </a:r>
          </a:p>
        </p:txBody>
      </p:sp>
      <p:pic>
        <p:nvPicPr>
          <p:cNvPr id="5" name="Picture 4" descr="09_vol_surfa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687" y="1728216"/>
            <a:ext cx="713232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17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Modeled vs Market by Expiry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69264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25296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8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 Same comparison, flattened to plain lines per expiry — easier to read exact levels than the 3D surface</a:t>
            </a:r>
          </a:p>
        </p:txBody>
      </p:sp>
      <p:pic>
        <p:nvPicPr>
          <p:cNvPr id="5" name="Picture 4" descr="11_smile_compariso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047" y="1728216"/>
            <a:ext cx="6743599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18 /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The Variance Risk Premium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69264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25296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52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The gap between what the market actually charges for an option (implied vol) and what historical hedging outcomes say it should have cost (breakeven vol)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85416"/>
            <a:ext cx="11094415" cy="329184"/>
          </a:xfrm>
          <a:prstGeom prst="roundRect">
            <a:avLst>
              <a:gd name="adj" fmla="val 15000"/>
            </a:avLst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Block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96312"/>
            <a:ext cx="11094415" cy="384048"/>
          </a:xfrm>
          <a:prstGeom prst="rect">
            <a:avLst/>
          </a:prstGeom>
          <a:solidFill>
            <a:srgbClr val="E8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 i="0">
                <a:solidFill>
                  <a:srgbClr val="242424"/>
                </a:solidFill>
                <a:latin typeface="Calibri"/>
              </a:rPr>
              <a:t>Vol-point terms:   VRP = σ_IV − σ_BE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35808"/>
            <a:ext cx="11094415" cy="329184"/>
          </a:xfrm>
          <a:prstGeom prst="roundRect">
            <a:avLst>
              <a:gd name="adj" fmla="val 15000"/>
            </a:avLst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Block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46703"/>
            <a:ext cx="11094415" cy="384048"/>
          </a:xfrm>
          <a:prstGeom prst="rect">
            <a:avLst/>
          </a:prstGeom>
          <a:solidFill>
            <a:srgbClr val="E8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 i="0">
                <a:solidFill>
                  <a:srgbClr val="242424"/>
                </a:solidFill>
                <a:latin typeface="Calibri"/>
              </a:rPr>
              <a:t>Variance terms (textbook definition):   VRP = σ_IV² − σ_BE²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11094415" cy="329184"/>
          </a:xfrm>
          <a:prstGeom prst="roundRect">
            <a:avLst>
              <a:gd name="adj" fmla="val 15000"/>
            </a:avLst>
          </a:prstGeom>
          <a:solidFill>
            <a:srgbClr val="3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Examples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42816"/>
            <a:ext cx="11094415" cy="502920"/>
          </a:xfrm>
          <a:prstGeom prst="rect">
            <a:avLst/>
          </a:prstGeom>
          <a:solidFill>
            <a:srgbClr val="E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 i="0">
                <a:solidFill>
                  <a:srgbClr val="242424"/>
                </a:solidFill>
                <a:latin typeface="Calibri"/>
              </a:rPr>
              <a:t>Positive VRP = the market is charging more than history says was needed — compensation for bearing tail/crash risk that realized hedging outcomes don't fully justify.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19 /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VRP Across the Surface (Normal Sampling)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69264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25296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8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 Largest at short-dated, deep OTM puts — smallest (near zero) further out and higher in moneyness</a:t>
            </a:r>
          </a:p>
        </p:txBody>
      </p:sp>
      <p:pic>
        <p:nvPicPr>
          <p:cNvPr id="5" name="Picture 4" descr="10_variance_risk_prem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876" y="1728216"/>
            <a:ext cx="7053942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Why Are Downside Puts So Rich?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69264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8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 80% put, 1-month: implied vol trades +32.8 vol points over modeled breakeven vol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819656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86584"/>
            <a:ext cx="342381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B2A56"/>
                </a:solidFill>
                <a:latin typeface="Calibri"/>
              </a:rPr>
              <a:t>Crash / Tail-Risk Premium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15768"/>
            <a:ext cx="342381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242424"/>
                </a:solidFill>
                <a:latin typeface="Calibri"/>
              </a:rPr>
              <a:t>Market makers charge for jump and crash risk that a 10-year bootstrap sample under-represents.</a:t>
            </a:r>
          </a:p>
        </p:txBody>
      </p:sp>
      <p:sp>
        <p:nvSpPr>
          <p:cNvPr id="8" name="Oval 7"/>
          <p:cNvSpPr/>
          <p:nvPr/>
        </p:nvSpPr>
        <p:spPr>
          <a:xfrm>
            <a:off x="4383938" y="1819656"/>
            <a:ext cx="457200" cy="45720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3938" y="2386584"/>
            <a:ext cx="342381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B2A56"/>
                </a:solidFill>
                <a:latin typeface="Calibri"/>
              </a:rPr>
              <a:t>Portfolio Insurance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3938" y="2715768"/>
            <a:ext cx="342381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242424"/>
                </a:solidFill>
                <a:latin typeface="Calibri"/>
              </a:rPr>
              <a:t>Institutions are structural buyers of downside protection — persistent demand inflates OTM put prices.</a:t>
            </a:r>
          </a:p>
        </p:txBody>
      </p:sp>
      <p:sp>
        <p:nvSpPr>
          <p:cNvPr id="11" name="Oval 10"/>
          <p:cNvSpPr/>
          <p:nvPr/>
        </p:nvSpPr>
        <p:spPr>
          <a:xfrm>
            <a:off x="8127796" y="1819656"/>
            <a:ext cx="457200" cy="457200"/>
          </a:xfrm>
          <a:prstGeom prst="ellipse">
            <a:avLst/>
          </a:prstGeom>
          <a:solidFill>
            <a:srgbClr val="3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7796" y="2386584"/>
            <a:ext cx="342381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B2A56"/>
                </a:solidFill>
                <a:latin typeface="Calibri"/>
              </a:rPr>
              <a:t>Supply-Demand Imbalance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7796" y="2715768"/>
            <a:ext cx="342381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242424"/>
                </a:solidFill>
                <a:latin typeface="Calibri"/>
              </a:rPr>
              <a:t>Few natural sellers of crash insurance; those who do demand a premium for the risk they're absorbing.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21 /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5A6B9C"/>
                </a:solidFill>
                <a:latin typeface="Calibri"/>
              </a:rPr>
              <a:t>6 · STRESS-PERIOD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Sensitivity Check: Sampling Only From Stress Periods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16736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572768"/>
            <a:ext cx="110944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4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So far, blocks are drawn uniformly across ~10 years of history -- most of that history is calm, ordinary markets</a:t>
            </a:r>
          </a:p>
          <a:p>
            <a:pPr>
              <a:spcAft>
                <a:spcPts val="144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What if we restrict sampling to only historically stressed periods -- does the picture change?</a:t>
            </a:r>
          </a:p>
          <a:p>
            <a:pPr>
              <a:spcAft>
                <a:spcPts val="144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"Stress" = trailing 21-day realized vol in the top quartile of its own history, AND a negative trailing 21-day return -- this excludes violent relief rallies (high-vol, but not selloffs)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58768"/>
            <a:ext cx="11094415" cy="329184"/>
          </a:xfrm>
          <a:prstGeom prst="roundRect">
            <a:avLst>
              <a:gd name="adj" fmla="val 15000"/>
            </a:avLst>
          </a:prstGeom>
          <a:solidFill>
            <a:srgbClr val="3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Examples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69664"/>
            <a:ext cx="11094415" cy="502920"/>
          </a:xfrm>
          <a:prstGeom prst="rect">
            <a:avLst/>
          </a:prstGeom>
          <a:solidFill>
            <a:srgbClr val="E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 i="0">
                <a:solidFill>
                  <a:srgbClr val="242424"/>
                </a:solidFill>
                <a:latin typeface="Calibri"/>
              </a:rPr>
              <a:t>Down-stress pool: 368 eligible 21-day windows out of 2,483 (14.8% of history) -- includes Feb 2018 “Volmageddon,” Q4 2018, the 2020 COVID crash, and the 2022 bear market.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22 /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Where We're Actually Sampling From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69264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25296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8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 Same block-bootstrap mechanism as before -- just restricted to the shaded stress windows below</a:t>
            </a:r>
          </a:p>
        </p:txBody>
      </p:sp>
      <p:pic>
        <p:nvPicPr>
          <p:cNvPr id="5" name="Picture 4" descr="01_block_bootstrap_shading_st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87" y="1728216"/>
            <a:ext cx="896112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245352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Calibri"/>
              </a:rPr>
              <a:t>Down-stress-only sampling: every shaded block sits inside a real historical selloff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23 /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The Resulting Paths: Normal vs Down-Stress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69264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25296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8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 Same block-bootstrap mechanism, same number of paths -- only the historical pool differs</a:t>
            </a:r>
          </a:p>
        </p:txBody>
      </p:sp>
      <p:pic>
        <p:nvPicPr>
          <p:cNvPr id="5" name="Picture 4" descr="02_bootstrap_price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39157"/>
            <a:ext cx="5364327" cy="32185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05272"/>
            <a:ext cx="53643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Calibri"/>
              </a:rPr>
              <a:t>Normal Sampling</a:t>
            </a:r>
          </a:p>
        </p:txBody>
      </p:sp>
      <p:pic>
        <p:nvPicPr>
          <p:cNvPr id="7" name="Picture 6" descr="02_bootstrap_price_paths_st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2039157"/>
            <a:ext cx="5364327" cy="32185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78727" y="5605272"/>
            <a:ext cx="53643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Calibri"/>
              </a:rPr>
              <a:t>Down-Stress Sampling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24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Breakeven Vol Jumps Under Stress-Only Sampling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69264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25296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8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 Same four options, same 1-year expiry -- only the sampling pool changes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65376"/>
          <a:ext cx="103628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579"/>
                <a:gridCol w="2072579"/>
                <a:gridCol w="2072579"/>
                <a:gridCol w="2072579"/>
                <a:gridCol w="2072579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Moneyness</a:t>
                      </a:r>
                    </a:p>
                  </a:txBody>
                  <a:tcPr anchor="ctr" marT="45720" marB="45720"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80% Put</a:t>
                      </a:r>
                    </a:p>
                  </a:txBody>
                  <a:tcPr anchor="ctr" marT="45720" marB="45720"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90% Put</a:t>
                      </a:r>
                    </a:p>
                  </a:txBody>
                  <a:tcPr anchor="ctr" marT="45720" marB="45720"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100% Call</a:t>
                      </a:r>
                    </a:p>
                  </a:txBody>
                  <a:tcPr anchor="ctr" marT="45720" marB="45720"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110% Call</a:t>
                      </a:r>
                    </a:p>
                  </a:txBody>
                  <a:tcPr anchor="ctr" marT="45720" marB="45720">
                    <a:solidFill>
                      <a:srgbClr val="1B2A5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B2A56"/>
                          </a:solidFill>
                          <a:latin typeface="Calibri"/>
                        </a:rPr>
                        <a:t>Normal (median)</a:t>
                      </a:r>
                    </a:p>
                  </a:txBody>
                  <a:tcPr anchor="ctr" marT="45720" marB="45720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42424"/>
                          </a:solidFill>
                          <a:latin typeface="Calibri"/>
                        </a:rPr>
                        <a:t>16.4%</a:t>
                      </a:r>
                    </a:p>
                  </a:txBody>
                  <a:tcPr anchor="ctr" marT="45720" marB="45720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42424"/>
                          </a:solidFill>
                          <a:latin typeface="Calibri"/>
                        </a:rPr>
                        <a:t>16.1%</a:t>
                      </a:r>
                    </a:p>
                  </a:txBody>
                  <a:tcPr anchor="ctr" marT="45720" marB="45720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42424"/>
                          </a:solidFill>
                          <a:latin typeface="Calibri"/>
                        </a:rPr>
                        <a:t>15.9%</a:t>
                      </a:r>
                    </a:p>
                  </a:txBody>
                  <a:tcPr anchor="ctr" marT="45720" marB="45720"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42424"/>
                          </a:solidFill>
                          <a:latin typeface="Calibri"/>
                        </a:rPr>
                        <a:t>15.7%</a:t>
                      </a:r>
                    </a:p>
                  </a:txBody>
                  <a:tcPr anchor="ctr" marT="45720" marB="45720">
                    <a:solidFill>
                      <a:srgbClr val="E8EA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B2A56"/>
                          </a:solidFill>
                          <a:latin typeface="Calibri"/>
                        </a:rPr>
                        <a:t>Down-Stress (median)</a:t>
                      </a:r>
                    </a:p>
                  </a:txBody>
                  <a:tcPr anchor="ctr" marT="45720" marB="4572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42424"/>
                          </a:solidFill>
                          <a:latin typeface="Calibri"/>
                        </a:rPr>
                        <a:t>29.6%</a:t>
                      </a:r>
                    </a:p>
                  </a:txBody>
                  <a:tcPr anchor="ctr" marT="45720" marB="4572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42424"/>
                          </a:solidFill>
                          <a:latin typeface="Calibri"/>
                        </a:rPr>
                        <a:t>29.0%</a:t>
                      </a:r>
                    </a:p>
                  </a:txBody>
                  <a:tcPr anchor="ctr" marT="45720" marB="4572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42424"/>
                          </a:solidFill>
                          <a:latin typeface="Calibri"/>
                        </a:rPr>
                        <a:t>28.8%</a:t>
                      </a:r>
                    </a:p>
                  </a:txBody>
                  <a:tcPr anchor="ctr" marT="45720" marB="45720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42424"/>
                          </a:solidFill>
                          <a:latin typeface="Calibri"/>
                        </a:rPr>
                        <a:t>28.0%</a:t>
                      </a:r>
                    </a:p>
                  </a:txBody>
                  <a:tcPr anchor="ctr" marT="45720" marB="45720"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694176"/>
            <a:ext cx="11094415" cy="329184"/>
          </a:xfrm>
          <a:prstGeom prst="roundRect">
            <a:avLst>
              <a:gd name="adj" fmla="val 15000"/>
            </a:avLst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Block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005072"/>
            <a:ext cx="11094415" cy="457200"/>
          </a:xfrm>
          <a:prstGeom prst="rect">
            <a:avLst/>
          </a:prstGeom>
          <a:solidFill>
            <a:srgbClr val="E8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 i="0">
                <a:solidFill>
                  <a:srgbClr val="242424"/>
                </a:solidFill>
                <a:latin typeface="Calibri"/>
              </a:rPr>
              <a:t>Roughly +12-14 vol points higher across every strike once we condition on genuine historical selloffs instead of the full, mostly-calm 10-year history.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25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The Smile Itself: Normal vs Down-Stress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69264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25296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8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 The whole distribution shifts up and widens under stress-only sampling -- not just the mean/median</a:t>
            </a:r>
          </a:p>
        </p:txBody>
      </p:sp>
      <p:pic>
        <p:nvPicPr>
          <p:cNvPr id="5" name="Picture 4" descr="04_breakeven_vol_sm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96489"/>
            <a:ext cx="5364327" cy="34868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788152"/>
            <a:ext cx="53643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Calibri"/>
              </a:rPr>
              <a:t>Normal Sampling</a:t>
            </a:r>
          </a:p>
        </p:txBody>
      </p:sp>
      <p:pic>
        <p:nvPicPr>
          <p:cNvPr id="7" name="Picture 6" descr="04_breakeven_vol_smile_st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996489"/>
            <a:ext cx="5364327" cy="34868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78727" y="5788152"/>
            <a:ext cx="53643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Calibri"/>
              </a:rPr>
              <a:t>Down-Stress Sampling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26 /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VRP Reassessed Under a Stress-Conditioned Benchmark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69264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25296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8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 Same market implied vols -- only the breakeven-vol benchmark now reflects selloff-only history</a:t>
            </a:r>
          </a:p>
        </p:txBody>
      </p:sp>
      <p:pic>
        <p:nvPicPr>
          <p:cNvPr id="5" name="Picture 4" descr="10_variance_risk_premium_st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390" y="1728216"/>
            <a:ext cx="6008914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27 /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Modeled vs Market: Normal vs Down-Stress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69264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25296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8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•  Under stress-only sampling, the green (modeled) line moves up to meet -- or exceed -- the purple (market) line across most tenors</a:t>
            </a:r>
          </a:p>
        </p:txBody>
      </p:sp>
      <p:pic>
        <p:nvPicPr>
          <p:cNvPr id="5" name="Picture 4" descr="11_smile_compariso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94679"/>
            <a:ext cx="5364327" cy="4073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71032"/>
            <a:ext cx="53643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Calibri"/>
              </a:rPr>
              <a:t>Normal Sampling</a:t>
            </a:r>
          </a:p>
        </p:txBody>
      </p:sp>
      <p:pic>
        <p:nvPicPr>
          <p:cNvPr id="7" name="Picture 6" descr="11_smile_comparison_grid_st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794679"/>
            <a:ext cx="5364327" cy="40733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78727" y="5971032"/>
            <a:ext cx="53643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Calibri"/>
              </a:rPr>
              <a:t>Down-Stress Sampling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28 /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What This Tells Us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69264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25296"/>
            <a:ext cx="11094415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96"/>
              </a:spcAft>
            </a:pPr>
            <a:r>
              <a:rPr sz="1650" b="0" i="0">
                <a:solidFill>
                  <a:srgbClr val="242424"/>
                </a:solidFill>
                <a:latin typeface="Calibri"/>
              </a:rPr>
              <a:t>•  Almost everywhere, VRP flips negative under stress-only conditioning: most of the market's apparent “richness” vs. normal-history breakeven vol is explained once the benchmark itself assumes a selloff</a:t>
            </a:r>
          </a:p>
          <a:p>
            <a:pPr>
              <a:spcAft>
                <a:spcPts val="1296"/>
              </a:spcAft>
            </a:pPr>
            <a:r>
              <a:rPr sz="1650" b="0" i="0">
                <a:solidFill>
                  <a:srgbClr val="242424"/>
                </a:solidFill>
                <a:latin typeface="Calibri"/>
              </a:rPr>
              <a:t>•  Exception -- 1-month, 80-90% moneyness: VRP is identical under both sampling regimes (+34.0%, +28.6%, +22.9%)</a:t>
            </a:r>
          </a:p>
          <a:p>
            <a:pPr>
              <a:spcAft>
                <a:spcPts val="1296"/>
              </a:spcAft>
            </a:pPr>
            <a:r>
              <a:rPr sz="1650" b="0" i="0">
                <a:solidFill>
                  <a:srgbClr val="242424"/>
                </a:solidFill>
                <a:latin typeface="Calibri"/>
              </a:rPr>
              <a:t>•  That's mechanical, not a coincidence: a 1-month option is built from a single 21-day block, so reaching 80-90% moneyness needs one of the same rare extreme historical blocks regardless of which pool it's drawn from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877056"/>
            <a:ext cx="11094415" cy="329184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Alertblock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187952"/>
            <a:ext cx="11094415" cy="566928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 i="0">
                <a:solidFill>
                  <a:srgbClr val="242424"/>
                </a:solidFill>
                <a:latin typeface="Calibri"/>
              </a:rPr>
              <a:t>The one place the market still looks rich even against a pure crash benchmark: the shortest-dated, deepest-left-tail corner. That residual likely reflects risks even a real selloff sample doesn't fully capture -- sharper single-month drops, overnight gaps, or a structural liquidity/insurance premium.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29 / 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Limitations &amp; Next Steps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69264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25296"/>
            <a:ext cx="1109441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84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Breakeven-vol distributions are right-skewed (mean &gt; median) — we report the median as primary for this reason</a:t>
            </a:r>
          </a:p>
          <a:p>
            <a:pPr>
              <a:spcAft>
                <a:spcPts val="1584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Block bootstrap only resamples the observed ~10-year history — even stress-only sampling can't produce a crash unlike anything already in the sample</a:t>
            </a:r>
          </a:p>
          <a:p>
            <a:pPr>
              <a:spcAft>
                <a:spcPts val="1584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Market matching snaps to the nearest listed strike/expiry, which adds a small amount of basis noise to the comparison</a:t>
            </a:r>
          </a:p>
          <a:p>
            <a:pPr>
              <a:spcAft>
                <a:spcPts val="1584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Next: extend history further back, add a sequential/uniqueness-weighted bootstrap variant, track VRP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30 / 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B2A56"/>
                </a:solidFill>
                <a:latin typeface="Calibri"/>
              </a:rPr>
              <a:t>Summary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69264"/>
            <a:ext cx="11094415" cy="0"/>
          </a:xfrm>
          <a:prstGeom prst="line">
            <a:avLst/>
          </a:prstGeom>
          <a:ln w="15875">
            <a:solidFill>
              <a:srgbClr val="1B2A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25296"/>
            <a:ext cx="11094415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4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Single path → delta-hedge it → root-find the vol that breaks even</a:t>
            </a:r>
          </a:p>
          <a:p>
            <a:pPr>
              <a:spcAft>
                <a:spcPts val="144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Block bootstrap thousands of realistic paths → a distribution, not one noisy number</a:t>
            </a:r>
          </a:p>
          <a:p>
            <a:pPr>
              <a:spcAft>
                <a:spcPts val="144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Four options, one shared path ensemble → a breakeven volatility smile</a:t>
            </a:r>
          </a:p>
          <a:p>
            <a:pPr>
              <a:spcAft>
                <a:spcPts val="144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More strikes, more expiries → a full breakeven volatility surface</a:t>
            </a:r>
          </a:p>
          <a:p>
            <a:pPr>
              <a:spcAft>
                <a:spcPts val="144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Compared to the market: options price in a real, measurable variance risk premium — largest for short-dated, deep OTM puts</a:t>
            </a:r>
          </a:p>
          <a:p>
            <a:pPr>
              <a:spcAft>
                <a:spcPts val="144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•  Conditioning the sample on real historical selloffs closes most of that gap -- except at the shortest-dated, deepest-OTM corner, which stays rich even then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31 / 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01752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242424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9476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757575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32 /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